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60E1-0838-2A00-2C2A-3C8DACE97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325D8-DCB8-12BE-46ED-DE60952C6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184EE-591D-A304-EEB0-5AC4B729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34800-9905-D237-5514-B5340AE3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5A51A-42A2-16D9-769B-61F52B7B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4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4F10C-1E4D-08A0-F7BA-F310CF2E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F2FE-FF37-5A15-064A-39EAA9B2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0AAC3-BD9E-404C-DEA9-EE2FACD2D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8C3A6-076F-0700-F49F-3BC997F8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03A0A-BD62-A3CC-C18F-91A3F496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308E0-8663-B151-9639-B9EC50D2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9FC24-E42F-95D5-0035-158F11D6B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A7247-E7AD-8BF5-13E8-F0A1C757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2F6AE-2D4C-8882-BC76-6ACFD140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B5DCD-7D03-0410-216E-805AD766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1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C86C-0526-97C6-0E7C-2E921538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20A08-5953-6AE5-BB5E-1CC0930D0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AE653-E1BE-8053-9490-5DA489776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D0ADF-FCA0-7E72-9186-321E2FC9F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7AD86-E9CC-CA58-17A8-ED8AFA24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FDFAE-5264-FAC4-C600-2827AA17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DF75-DE62-B6CF-222B-01E5A68C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1C560-9ECD-DF6A-92F3-8EC88846B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08AB3-58C1-6422-F0F7-E485005F9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0BAE2-5D4C-CB80-1C57-BF47A6A2E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10283-2CC2-2A85-A634-81FFCC32DD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D356B-D925-4F0A-BF06-185AA01D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F8558-BA1A-6A7D-C1D2-F2E3FD7E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790AEC-0167-37D1-1DCC-7491C47C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8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F985-0126-4A08-85BB-DDB56496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7106DA-6E7B-A1A1-8DE8-C55FE094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6413B-DFF8-4E37-147A-38A708AD6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20391-776E-3351-4021-D2F3A9E7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6F54E-26BC-ACE6-F8B7-60C23021F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0323D7-9223-E235-05F5-79534618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F6F9F-C5FC-2D29-181A-25D25F0A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4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32AB2-DCBD-94AF-F266-CC0F0A99F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C0DE9-B129-71FA-4051-496B155C2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DB079-A830-02EA-A781-301FFA4EE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882A4-02C2-2014-3CEC-6FC45DF7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9B492-373C-0285-FE8A-AD97DC500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20067-2375-0578-D682-6E252A13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14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2580-C198-8948-D6C7-11FAD52B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22988-5B37-ECD1-451B-FD1F58089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7DB22-81A6-11F3-E72F-889607F9A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30077-3B7D-9001-4AF0-95813ACE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A2A01-FD87-5F92-A896-8A63BA00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9DC44-726E-EF27-3F08-6F412A0D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8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FACC-F3FC-8947-98FA-4489EFBBB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ABA40-BC5B-C447-4EA0-371833420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32FC0-6258-7651-B54A-F8A0D533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43E0-4647-5CF9-5F1A-FB797B1DC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2A7CC-BA87-BDB1-DDBA-ECF18091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5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52139-7745-E0AC-5BF3-1E6F378A4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34D3C-ECDC-2663-AC13-28C445BB9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D1E93-83BC-7505-FC05-E98A67D0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7926F-A5D4-5DA8-5026-72747FF4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EB277-E0E7-5FC6-27D4-EF635EE0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67FAE-F5DB-52AD-E96C-215F3312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1DE63-0ED2-026C-64E3-90D52E1EC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4AC2-9BDC-B829-DBCF-D07E1885F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8C236-5241-4CFA-9413-D4FA495626B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10502-BED5-9054-CB6A-7232B1FD9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E76A5-AC17-6B67-E8B5-06090AB63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4CD9B-EC1D-40C3-AA46-1AE3F120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01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16D9-AA31-19B5-F79F-CC59AE31C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261241"/>
          </a:xfrm>
          <a:solidFill>
            <a:schemeClr val="accent1">
              <a:lumMod val="60000"/>
              <a:lumOff val="40000"/>
            </a:schemeClr>
          </a:solidFill>
        </p:spPr>
        <p:txBody>
          <a:bodyPr anchor="ctr" anchorCtr="0"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   FieldFlex – MaSH To Everything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E0B00-7566-2C9C-1785-1C09E4D9A4E4}"/>
              </a:ext>
            </a:extLst>
          </p:cNvPr>
          <p:cNvSpPr txBox="1"/>
          <p:nvPr/>
        </p:nvSpPr>
        <p:spPr>
          <a:xfrm>
            <a:off x="430924" y="1524165"/>
            <a:ext cx="6547945" cy="4466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SDSs frequently face the task of interpreting and converting the information of the Service Requests into the required format for the specific task, and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can lead to human errors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besides 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adding time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dedicated to analyzing this information.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FieldFlex</a:t>
            </a:r>
            <a:r>
              <a:rPr lang="en-US" dirty="0"/>
              <a:t> is a converter tool designed to </a:t>
            </a:r>
            <a:r>
              <a:rPr lang="en-US" b="1" dirty="0"/>
              <a:t>transform MaSH filters into the specific format required by the SDS</a:t>
            </a:r>
            <a:r>
              <a:rPr lang="en-US" dirty="0"/>
              <a:t>, ensuring: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Standardization &amp; Quality of the process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Less margin error / rejection percentage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Less time and effort wasted in manual analysis</a:t>
            </a:r>
          </a:p>
          <a:p>
            <a:endParaRPr lang="en-US" dirty="0"/>
          </a:p>
        </p:txBody>
      </p:sp>
      <p:pic>
        <p:nvPicPr>
          <p:cNvPr id="7" name="Picture 6" descr="A green square with a white arrow and a white line&#10;&#10;AI-generated content may be incorrect.">
            <a:extLst>
              <a:ext uri="{FF2B5EF4-FFF2-40B4-BE49-F238E27FC236}">
                <a16:creationId xmlns:a16="http://schemas.microsoft.com/office/drawing/2014/main" id="{B2228E6F-DB86-552D-A6F4-279DF88E9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229" y="1844579"/>
            <a:ext cx="2335875" cy="23490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F3E641-64E9-5C89-2B55-FE71C95DF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102" y="5167876"/>
            <a:ext cx="4349969" cy="1261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4845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97DFE17-D147-9D3B-1C60-FE87813C9DE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12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   FieldFlex – MaSH To Everything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884AB-7083-D25E-5173-2790B45D6E61}"/>
              </a:ext>
            </a:extLst>
          </p:cNvPr>
          <p:cNvSpPr txBox="1"/>
          <p:nvPr/>
        </p:nvSpPr>
        <p:spPr>
          <a:xfrm>
            <a:off x="2926661" y="1535766"/>
            <a:ext cx="6096000" cy="49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400" b="1" dirty="0"/>
              <a:t>Quality Improvement for TLP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8F940-188D-C62F-758F-81A7723001AA}"/>
              </a:ext>
            </a:extLst>
          </p:cNvPr>
          <p:cNvSpPr txBox="1"/>
          <p:nvPr/>
        </p:nvSpPr>
        <p:spPr>
          <a:xfrm>
            <a:off x="2726964" y="2274838"/>
            <a:ext cx="64953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FieldFlex directly intervenes in the build process of most filters in a main query—the section a builder must configurate the most in a script.</a:t>
            </a:r>
          </a:p>
          <a:p>
            <a:pPr algn="ctr"/>
            <a:br>
              <a:rPr lang="en-US" dirty="0"/>
            </a:br>
            <a:r>
              <a:rPr lang="en-US" dirty="0"/>
              <a:t>It also plays a direct role in the Peer Review process, ensuring that Build Stage errors related to filtering criteria are easily catchable.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7D3F02-03DE-7CFF-D218-030A9ADFF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689" y="4511321"/>
            <a:ext cx="5266622" cy="16168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8860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187A86-2951-3C2A-EA5A-34D0E58A363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12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   FieldFlex – MaSH To Everything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A277B8-B4DC-3308-05A0-23DE1FA45C7E}"/>
              </a:ext>
            </a:extLst>
          </p:cNvPr>
          <p:cNvSpPr txBox="1"/>
          <p:nvPr/>
        </p:nvSpPr>
        <p:spPr>
          <a:xfrm>
            <a:off x="623235" y="1445371"/>
            <a:ext cx="6097604" cy="56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Security</a:t>
            </a:r>
            <a:endParaRPr lang="en-US" sz="2800" b="1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8668C-74C2-90AF-0E86-72B4C46CF616}"/>
              </a:ext>
            </a:extLst>
          </p:cNvPr>
          <p:cNvSpPr txBox="1"/>
          <p:nvPr/>
        </p:nvSpPr>
        <p:spPr>
          <a:xfrm>
            <a:off x="623235" y="2008795"/>
            <a:ext cx="9330062" cy="4345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1" dirty="0"/>
              <a:t>FieldFlex does NOT:</a:t>
            </a:r>
            <a:endParaRPr lang="en-US" i="1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Handle Microsoft PII or maintain any database.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 any type of personal information from the user.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any third-party code outside of Microsoft.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Operate or deploy on any external cloud service.</a:t>
            </a:r>
          </a:p>
          <a:p>
            <a:pPr>
              <a:lnSpc>
                <a:spcPct val="200000"/>
              </a:lnSpc>
            </a:pPr>
            <a:r>
              <a:rPr lang="en-US" b="1" i="1" dirty="0"/>
              <a:t>FieldFlex DOES:</a:t>
            </a:r>
            <a:endParaRPr lang="en-US" i="1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Operate within MVD.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Run locally in your browser without accessing data from your computer or the Internet.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will be hosted on the Data Supporting Documents SharePoint to ensure the latest version is always available for download.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12CF49-7893-D731-4E9C-2DEE76D38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443"/>
          <a:stretch>
            <a:fillRect/>
          </a:stretch>
        </p:blipFill>
        <p:spPr>
          <a:xfrm>
            <a:off x="6413595" y="2391874"/>
            <a:ext cx="5453214" cy="22116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63584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F124FE7-6015-B85B-186E-00EA90A2346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12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   FieldFlex – MaSH To Everything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F3623-A6B3-83F7-ADCB-6E2635DBB166}"/>
              </a:ext>
            </a:extLst>
          </p:cNvPr>
          <p:cNvSpPr txBox="1"/>
          <p:nvPr/>
        </p:nvSpPr>
        <p:spPr>
          <a:xfrm>
            <a:off x="615981" y="1687108"/>
            <a:ext cx="6097604" cy="56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Scalability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656C8-5F0A-9E26-9FA5-EBA0EEC5856F}"/>
              </a:ext>
            </a:extLst>
          </p:cNvPr>
          <p:cNvSpPr txBox="1"/>
          <p:nvPr/>
        </p:nvSpPr>
        <p:spPr>
          <a:xfrm>
            <a:off x="615981" y="2417754"/>
            <a:ext cx="5763798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Immune to template script updates</a:t>
            </a:r>
            <a:r>
              <a:rPr lang="en-US" dirty="0"/>
              <a:t>: FieldFlex processes MaSH filters individually, giving the SDS full control over where and how to apply the tool results.</a:t>
            </a:r>
          </a:p>
          <a:p>
            <a:pPr lvl="0">
              <a:lnSpc>
                <a:spcPct val="150000"/>
              </a:lnSpc>
            </a:pP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Easily adaptable to taxonomy updates</a:t>
            </a:r>
            <a:r>
              <a:rPr lang="en-US" dirty="0"/>
              <a:t>: The logic of the FieldFlex code is designed to be scalable, allowing it to easily accommodate changes in filtering criteria. A full taxonomy update can be implemented in FieldFlex </a:t>
            </a:r>
            <a:r>
              <a:rPr lang="en-US" b="1" dirty="0"/>
              <a:t>within just a few minutes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3E10C7-D2DD-BAED-A13E-14893373E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23" y="1529453"/>
            <a:ext cx="3526197" cy="49054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2201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D05B9E-D132-194A-9F04-7856F398FAA0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192000" cy="126124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   FieldFlex – MaSH To Everything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174D5-F00B-C9C0-F287-D4DAA86D1441}"/>
              </a:ext>
            </a:extLst>
          </p:cNvPr>
          <p:cNvSpPr txBox="1"/>
          <p:nvPr/>
        </p:nvSpPr>
        <p:spPr>
          <a:xfrm>
            <a:off x="240990" y="3239446"/>
            <a:ext cx="4435363" cy="37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2-14 minutes of request analysis 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83DFCB7-3F76-01DD-F8A6-3FEBFB0F3D84}"/>
              </a:ext>
            </a:extLst>
          </p:cNvPr>
          <p:cNvSpPr/>
          <p:nvPr/>
        </p:nvSpPr>
        <p:spPr>
          <a:xfrm>
            <a:off x="4881305" y="3249222"/>
            <a:ext cx="1040524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EA002C-55C5-7B51-E0FB-DDA6FAF67860}"/>
              </a:ext>
            </a:extLst>
          </p:cNvPr>
          <p:cNvSpPr txBox="1"/>
          <p:nvPr/>
        </p:nvSpPr>
        <p:spPr>
          <a:xfrm>
            <a:off x="6126781" y="32492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Automatic process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857EC1-5A55-4873-0AD3-8E887CD5C32C}"/>
              </a:ext>
            </a:extLst>
          </p:cNvPr>
          <p:cNvSpPr txBox="1"/>
          <p:nvPr/>
        </p:nvSpPr>
        <p:spPr>
          <a:xfrm>
            <a:off x="235735" y="3789770"/>
            <a:ext cx="444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Different builders' resolutions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384DD2B-CC78-0394-77AD-8D50E2191F84}"/>
              </a:ext>
            </a:extLst>
          </p:cNvPr>
          <p:cNvSpPr/>
          <p:nvPr/>
        </p:nvSpPr>
        <p:spPr>
          <a:xfrm>
            <a:off x="4881305" y="3809320"/>
            <a:ext cx="1040524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D5B9C-4D0B-89A7-E26D-FA795FF98458}"/>
              </a:ext>
            </a:extLst>
          </p:cNvPr>
          <p:cNvSpPr txBox="1"/>
          <p:nvPr/>
        </p:nvSpPr>
        <p:spPr>
          <a:xfrm>
            <a:off x="6126781" y="3809320"/>
            <a:ext cx="6279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Builder’s filters standardized on the scripts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32964B-633E-E63B-9498-CC019735703B}"/>
              </a:ext>
            </a:extLst>
          </p:cNvPr>
          <p:cNvSpPr txBox="1"/>
          <p:nvPr/>
        </p:nvSpPr>
        <p:spPr>
          <a:xfrm>
            <a:off x="235735" y="4349868"/>
            <a:ext cx="444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Unexpected and different errors to catch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B1B8E20-6500-8D93-79B9-1DFF047B790A}"/>
              </a:ext>
            </a:extLst>
          </p:cNvPr>
          <p:cNvSpPr/>
          <p:nvPr/>
        </p:nvSpPr>
        <p:spPr>
          <a:xfrm>
            <a:off x="4881305" y="4349868"/>
            <a:ext cx="1040524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4FB8CD-A56C-B8A3-0426-29F0DC604685}"/>
              </a:ext>
            </a:extLst>
          </p:cNvPr>
          <p:cNvSpPr txBox="1"/>
          <p:nvPr/>
        </p:nvSpPr>
        <p:spPr>
          <a:xfrm>
            <a:off x="6126781" y="4368969"/>
            <a:ext cx="5570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Peer Review Section with a full error handling system</a:t>
            </a:r>
          </a:p>
        </p:txBody>
      </p:sp>
      <p:pic>
        <p:nvPicPr>
          <p:cNvPr id="26" name="Picture 25" descr="A green square with a white arrow and a white line&#10;&#10;AI-generated content may be incorrect.">
            <a:extLst>
              <a:ext uri="{FF2B5EF4-FFF2-40B4-BE49-F238E27FC236}">
                <a16:creationId xmlns:a16="http://schemas.microsoft.com/office/drawing/2014/main" id="{6D3BF844-9651-30FB-5DAA-A3E63F23F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781" y="2564286"/>
            <a:ext cx="1048361" cy="10542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9235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5" grpId="0"/>
      <p:bldP spid="17" grpId="0"/>
      <p:bldP spid="18" grpId="0" animBg="1"/>
      <p:bldP spid="20" grpId="0"/>
      <p:bldP spid="22" grpId="0"/>
      <p:bldP spid="23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355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   FieldFlex – MaSH To Everything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Siles (VML UK Limited)</dc:creator>
  <cp:lastModifiedBy>Ivan Siles (VML UK Limited)</cp:lastModifiedBy>
  <cp:revision>1</cp:revision>
  <dcterms:created xsi:type="dcterms:W3CDTF">2025-11-07T23:17:28Z</dcterms:created>
  <dcterms:modified xsi:type="dcterms:W3CDTF">2025-11-07T23:37:01Z</dcterms:modified>
</cp:coreProperties>
</file>